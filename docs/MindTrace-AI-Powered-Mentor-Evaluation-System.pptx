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4630400" cy="8229600"/>
  <p:notesSz cx="8229600" cy="14630400"/>
  <p:embeddedFontLst>
    <p:embeddedFont>
      <p:font typeface="Roboto" panose="02000000000000000000" pitchFamily="2" charset="0"/>
      <p:regular r:id="rId9"/>
      <p:bold r:id="rId10"/>
      <p:italic r:id="rId11"/>
      <p:boldItalic r:id="rId12"/>
    </p:embeddedFont>
    <p:embeddedFont>
      <p:font typeface="Roboto Slab" pitchFamily="2" charset="0"/>
      <p:regular r:id="rId13"/>
      <p:bold r:id="rId14"/>
    </p:embeddedFont>
    <p:embeddedFont>
      <p:font typeface="Roboto Slab Light"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45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429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406021"/>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MindTrace AI-Powered Mentor Evaluation System</a:t>
            </a:r>
            <a:endParaRPr lang="en-US" sz="4450" dirty="0"/>
          </a:p>
        </p:txBody>
      </p:sp>
      <p:pic>
        <p:nvPicPr>
          <p:cNvPr id="5" name="Picture 4" descr="A white background with black and white clouds&#10;&#10;AI-generated content may be incorrect.">
            <a:extLst>
              <a:ext uri="{FF2B5EF4-FFF2-40B4-BE49-F238E27FC236}">
                <a16:creationId xmlns:a16="http://schemas.microsoft.com/office/drawing/2014/main" id="{B617D523-8ADD-7790-9BB7-A0CF3544BF95}"/>
              </a:ext>
            </a:extLst>
          </p:cNvPr>
          <p:cNvPicPr>
            <a:picLocks noChangeAspect="1"/>
          </p:cNvPicPr>
          <p:nvPr/>
        </p:nvPicPr>
        <p:blipFill>
          <a:blip r:embed="rId4"/>
          <a:stretch>
            <a:fillRect/>
          </a:stretch>
        </p:blipFill>
        <p:spPr>
          <a:xfrm>
            <a:off x="8801100" y="7213600"/>
            <a:ext cx="5829300" cy="101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18323"/>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Technical Summary: MindTrace AI-Powered Mentor Evaluation System</a:t>
            </a:r>
            <a:endParaRPr lang="en-US" sz="4450" dirty="0"/>
          </a:p>
        </p:txBody>
      </p:sp>
      <p:sp>
        <p:nvSpPr>
          <p:cNvPr id="3" name="Text 1"/>
          <p:cNvSpPr/>
          <p:nvPr/>
        </p:nvSpPr>
        <p:spPr>
          <a:xfrm>
            <a:off x="793790" y="3326606"/>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3257B8"/>
                </a:solidFill>
                <a:latin typeface="Roboto Slab" pitchFamily="34" charset="0"/>
                <a:ea typeface="Roboto Slab" pitchFamily="34" charset="-122"/>
                <a:cs typeface="Roboto Slab" pitchFamily="34" charset="-120"/>
              </a:rPr>
              <a:t>1. Problem Statement</a:t>
            </a:r>
            <a:endParaRPr lang="en-US" sz="3550" dirty="0"/>
          </a:p>
        </p:txBody>
      </p:sp>
      <p:sp>
        <p:nvSpPr>
          <p:cNvPr id="4" name="Text 2"/>
          <p:cNvSpPr/>
          <p:nvPr/>
        </p:nvSpPr>
        <p:spPr>
          <a:xfrm>
            <a:off x="793790" y="4233743"/>
            <a:ext cx="13042821" cy="217741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Traditional methods of evaluating teaching and mentorship are often subjective, labor-intensive, and lack actionable granularity. Human evaluators may struggle to provide consistent, evidence-based feedback across multiple dimensions (e.g., clarity, pacing, checking for understanding) or pinpoint the exact moments where an explanation fails. Furthermore, providing constructive alternatives (rewrites) or detecting subtle logical inconsistencies across a long session is cognitively demanding and time-consuming. MindTrace aims to automate this process, providing an explainable, scalable, and multi-dimensional analysis of teaching sessions using advanced Large Language Models (LLMs).</a:t>
            </a:r>
            <a:endParaRPr lang="en-US" sz="1750" dirty="0"/>
          </a:p>
        </p:txBody>
      </p:sp>
      <p:pic>
        <p:nvPicPr>
          <p:cNvPr id="6" name="Picture 5" descr="A white background with black and white clouds&#10;&#10;AI-generated content may be incorrect.">
            <a:extLst>
              <a:ext uri="{FF2B5EF4-FFF2-40B4-BE49-F238E27FC236}">
                <a16:creationId xmlns:a16="http://schemas.microsoft.com/office/drawing/2014/main" id="{5F1D0817-344D-C26F-DC1D-A380A539639F}"/>
              </a:ext>
            </a:extLst>
          </p:cNvPr>
          <p:cNvPicPr>
            <a:picLocks noChangeAspect="1"/>
          </p:cNvPicPr>
          <p:nvPr/>
        </p:nvPicPr>
        <p:blipFill>
          <a:blip r:embed="rId3"/>
          <a:stretch>
            <a:fillRect/>
          </a:stretch>
        </p:blipFill>
        <p:spPr>
          <a:xfrm>
            <a:off x="10172700" y="7282048"/>
            <a:ext cx="4457700" cy="838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74251" y="684252"/>
            <a:ext cx="5862995" cy="481608"/>
          </a:xfrm>
          <a:prstGeom prst="rect">
            <a:avLst/>
          </a:prstGeom>
          <a:noFill/>
          <a:ln/>
        </p:spPr>
        <p:txBody>
          <a:bodyPr wrap="none" lIns="0" tIns="0" rIns="0" bIns="0" rtlCol="0" anchor="t"/>
          <a:lstStyle/>
          <a:p>
            <a:pPr marL="0" indent="0" algn="l">
              <a:lnSpc>
                <a:spcPts val="3750"/>
              </a:lnSpc>
              <a:buNone/>
            </a:pPr>
            <a:r>
              <a:rPr lang="en-US" sz="3000" dirty="0">
                <a:solidFill>
                  <a:srgbClr val="3257B8"/>
                </a:solidFill>
                <a:latin typeface="Roboto Slab" pitchFamily="34" charset="0"/>
                <a:ea typeface="Roboto Slab" pitchFamily="34" charset="-122"/>
                <a:cs typeface="Roboto Slab" pitchFamily="34" charset="-120"/>
              </a:rPr>
              <a:t>2. Approach and AI Components</a:t>
            </a:r>
            <a:endParaRPr lang="en-US" sz="3000" dirty="0"/>
          </a:p>
        </p:txBody>
      </p:sp>
      <p:sp>
        <p:nvSpPr>
          <p:cNvPr id="3" name="Text 1"/>
          <p:cNvSpPr/>
          <p:nvPr/>
        </p:nvSpPr>
        <p:spPr>
          <a:xfrm>
            <a:off x="674251" y="1551146"/>
            <a:ext cx="13281898" cy="616268"/>
          </a:xfrm>
          <a:prstGeom prst="rect">
            <a:avLst/>
          </a:prstGeom>
          <a:noFill/>
          <a:ln/>
        </p:spPr>
        <p:txBody>
          <a:bodyPr wrap="square" lIns="0" tIns="0" rIns="0" bIns="0" rtlCol="0" anchor="t"/>
          <a:lstStyle/>
          <a:p>
            <a:pPr marL="0" indent="0" algn="l">
              <a:lnSpc>
                <a:spcPts val="2400"/>
              </a:lnSpc>
              <a:buNone/>
            </a:pPr>
            <a:r>
              <a:rPr lang="en-US" sz="1500" dirty="0">
                <a:solidFill>
                  <a:srgbClr val="15213F"/>
                </a:solidFill>
                <a:latin typeface="Roboto" pitchFamily="34" charset="0"/>
                <a:ea typeface="Roboto" pitchFamily="34" charset="-122"/>
                <a:cs typeface="Roboto" pitchFamily="34" charset="-120"/>
              </a:rPr>
              <a:t>MindTrace employs a multi-stage AI pipeline designed to mimic and augment expert human evaluation. The system moves beyond simple sentiment analysis to perform deep pedagogical assessment.</a:t>
            </a:r>
            <a:endParaRPr lang="en-US" sz="1500" dirty="0"/>
          </a:p>
        </p:txBody>
      </p:sp>
      <p:sp>
        <p:nvSpPr>
          <p:cNvPr id="4" name="Text 2"/>
          <p:cNvSpPr/>
          <p:nvPr/>
        </p:nvSpPr>
        <p:spPr>
          <a:xfrm>
            <a:off x="674251" y="2384108"/>
            <a:ext cx="13281898" cy="616268"/>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Hybrid LLM Strategy:</a:t>
            </a:r>
            <a:r>
              <a:rPr lang="en-US" sz="1500" dirty="0">
                <a:solidFill>
                  <a:srgbClr val="15213F"/>
                </a:solidFill>
                <a:latin typeface="Roboto" pitchFamily="34" charset="0"/>
                <a:ea typeface="Roboto" pitchFamily="34" charset="-122"/>
                <a:cs typeface="Roboto" pitchFamily="34" charset="-120"/>
              </a:rPr>
              <a:t> The system utilizes a hybrid approach, leveraging </a:t>
            </a:r>
            <a:r>
              <a:rPr lang="en-US" sz="1500" dirty="0">
                <a:solidFill>
                  <a:srgbClr val="3257B8"/>
                </a:solidFill>
                <a:latin typeface="Roboto" pitchFamily="34" charset="0"/>
                <a:ea typeface="Roboto" pitchFamily="34" charset="-122"/>
                <a:cs typeface="Roboto" pitchFamily="34" charset="-120"/>
              </a:rPr>
              <a:t>Google Gemini 2.5 Flash</a:t>
            </a:r>
            <a:r>
              <a:rPr lang="en-US" sz="1500" dirty="0">
                <a:solidFill>
                  <a:srgbClr val="15213F"/>
                </a:solidFill>
                <a:latin typeface="Roboto" pitchFamily="34" charset="0"/>
                <a:ea typeface="Roboto" pitchFamily="34" charset="-122"/>
                <a:cs typeface="Roboto" pitchFamily="34" charset="-120"/>
              </a:rPr>
              <a:t> as the primary model for its multimodal capabilities and speed, with </a:t>
            </a:r>
            <a:r>
              <a:rPr lang="en-US" sz="1500" dirty="0">
                <a:solidFill>
                  <a:srgbClr val="3257B8"/>
                </a:solidFill>
                <a:latin typeface="Roboto" pitchFamily="34" charset="0"/>
                <a:ea typeface="Roboto" pitchFamily="34" charset="-122"/>
                <a:cs typeface="Roboto" pitchFamily="34" charset="-120"/>
              </a:rPr>
              <a:t>Groq LLaMA 3.3 70B</a:t>
            </a:r>
            <a:r>
              <a:rPr lang="en-US" sz="1500" dirty="0">
                <a:solidFill>
                  <a:srgbClr val="15213F"/>
                </a:solidFill>
                <a:latin typeface="Roboto" pitchFamily="34" charset="0"/>
                <a:ea typeface="Roboto" pitchFamily="34" charset="-122"/>
                <a:cs typeface="Roboto" pitchFamily="34" charset="-120"/>
              </a:rPr>
              <a:t> as a secondary option for high-performance text inference.</a:t>
            </a:r>
            <a:endParaRPr lang="en-US" sz="1500" dirty="0"/>
          </a:p>
        </p:txBody>
      </p:sp>
      <p:sp>
        <p:nvSpPr>
          <p:cNvPr id="5" name="Text 3"/>
          <p:cNvSpPr/>
          <p:nvPr/>
        </p:nvSpPr>
        <p:spPr>
          <a:xfrm>
            <a:off x="674251" y="3067764"/>
            <a:ext cx="13281898" cy="616268"/>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Automated Transcription:</a:t>
            </a:r>
            <a:r>
              <a:rPr lang="en-US" sz="1500" dirty="0">
                <a:solidFill>
                  <a:srgbClr val="15213F"/>
                </a:solidFill>
                <a:latin typeface="Roboto" pitchFamily="34" charset="0"/>
                <a:ea typeface="Roboto" pitchFamily="34" charset="-122"/>
                <a:cs typeface="Roboto" pitchFamily="34" charset="-120"/>
              </a:rPr>
              <a:t> Video content is processed using Google Gemini 1.5 Flash, which generates timestamped transcripts directly from video files, ensuring alignment between spoken words and temporal segments.</a:t>
            </a:r>
            <a:endParaRPr lang="en-US" sz="1500" dirty="0"/>
          </a:p>
        </p:txBody>
      </p:sp>
      <p:sp>
        <p:nvSpPr>
          <p:cNvPr id="6" name="Text 4"/>
          <p:cNvSpPr/>
          <p:nvPr/>
        </p:nvSpPr>
        <p:spPr>
          <a:xfrm>
            <a:off x="674251" y="3751421"/>
            <a:ext cx="13281898" cy="308134"/>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Multi-Dimensional Evaluation:</a:t>
            </a:r>
            <a:r>
              <a:rPr lang="en-US" sz="1500" dirty="0">
                <a:solidFill>
                  <a:srgbClr val="15213F"/>
                </a:solidFill>
                <a:latin typeface="Roboto" pitchFamily="34" charset="0"/>
                <a:ea typeface="Roboto" pitchFamily="34" charset="-122"/>
                <a:cs typeface="Roboto" pitchFamily="34" charset="-120"/>
              </a:rPr>
              <a:t> The core evaluation engine analyzes segments against 10 distinct metrics:</a:t>
            </a:r>
            <a:endParaRPr lang="en-US" sz="1500" dirty="0"/>
          </a:p>
        </p:txBody>
      </p:sp>
      <p:sp>
        <p:nvSpPr>
          <p:cNvPr id="7" name="Text 5"/>
          <p:cNvSpPr/>
          <p:nvPr/>
        </p:nvSpPr>
        <p:spPr>
          <a:xfrm>
            <a:off x="674251" y="4126944"/>
            <a:ext cx="13281898" cy="308134"/>
          </a:xfrm>
          <a:prstGeom prst="rect">
            <a:avLst/>
          </a:prstGeom>
          <a:noFill/>
          <a:ln/>
        </p:spPr>
        <p:txBody>
          <a:bodyPr wrap="none" lIns="0" tIns="0" rIns="0" bIns="0" rtlCol="0" anchor="t"/>
          <a:lstStyle/>
          <a:p>
            <a:pPr marL="685800" lvl="1" indent="-342900" algn="l">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Core:</a:t>
            </a:r>
            <a:r>
              <a:rPr lang="en-US" sz="1500" dirty="0">
                <a:solidFill>
                  <a:srgbClr val="15213F"/>
                </a:solidFill>
                <a:latin typeface="Roboto" pitchFamily="34" charset="0"/>
                <a:ea typeface="Roboto" pitchFamily="34" charset="-122"/>
                <a:cs typeface="Roboto" pitchFamily="34" charset="-120"/>
              </a:rPr>
              <a:t> Clarity, Structure, Correctness, Pacing, Communication.</a:t>
            </a:r>
            <a:endParaRPr lang="en-US" sz="1500" dirty="0"/>
          </a:p>
        </p:txBody>
      </p:sp>
      <p:sp>
        <p:nvSpPr>
          <p:cNvPr id="8" name="Text 6"/>
          <p:cNvSpPr/>
          <p:nvPr/>
        </p:nvSpPr>
        <p:spPr>
          <a:xfrm>
            <a:off x="674251" y="4502468"/>
            <a:ext cx="13281898" cy="308134"/>
          </a:xfrm>
          <a:prstGeom prst="rect">
            <a:avLst/>
          </a:prstGeom>
          <a:noFill/>
          <a:ln/>
        </p:spPr>
        <p:txBody>
          <a:bodyPr wrap="none" lIns="0" tIns="0" rIns="0" bIns="0" rtlCol="0" anchor="t"/>
          <a:lstStyle/>
          <a:p>
            <a:pPr marL="685800" lvl="1" indent="-342900" algn="l">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Advanced:</a:t>
            </a:r>
            <a:r>
              <a:rPr lang="en-US" sz="1500" dirty="0">
                <a:solidFill>
                  <a:srgbClr val="15213F"/>
                </a:solidFill>
                <a:latin typeface="Roboto" pitchFamily="34" charset="0"/>
                <a:ea typeface="Roboto" pitchFamily="34" charset="-122"/>
                <a:cs typeface="Roboto" pitchFamily="34" charset="-120"/>
              </a:rPr>
              <a:t> Engagement, Examples, Questioning, Adaptability, Topic Relevance.</a:t>
            </a:r>
            <a:endParaRPr lang="en-US" sz="1500" dirty="0"/>
          </a:p>
        </p:txBody>
      </p:sp>
      <p:sp>
        <p:nvSpPr>
          <p:cNvPr id="9" name="Text 7"/>
          <p:cNvSpPr/>
          <p:nvPr/>
        </p:nvSpPr>
        <p:spPr>
          <a:xfrm>
            <a:off x="674251" y="4877991"/>
            <a:ext cx="13281898" cy="616268"/>
          </a:xfrm>
          <a:prstGeom prst="rect">
            <a:avLst/>
          </a:prstGeom>
          <a:noFill/>
          <a:ln/>
        </p:spPr>
        <p:txBody>
          <a:bodyPr wrap="square" lIns="0" tIns="0" rIns="0" bIns="0" rtlCol="0" anchor="t"/>
          <a:lstStyle/>
          <a:p>
            <a:pPr marL="685800" lvl="1" indent="-342900" algn="l">
              <a:lnSpc>
                <a:spcPts val="2400"/>
              </a:lnSpc>
              <a:buSzPct val="100000"/>
              <a:buChar char="•"/>
            </a:pPr>
            <a:r>
              <a:rPr lang="en-US" sz="1500" dirty="0">
                <a:solidFill>
                  <a:srgbClr val="15213F"/>
                </a:solidFill>
                <a:latin typeface="Roboto" pitchFamily="34" charset="0"/>
                <a:ea typeface="Roboto" pitchFamily="34" charset="-122"/>
                <a:cs typeface="Roboto" pitchFamily="34" charset="-120"/>
              </a:rPr>
              <a:t>The LLMEvaluator service uses complex prompts to force the LLM to output structured JSON data containing scores (1-10) and detailed reasoning for each metric.</a:t>
            </a:r>
            <a:endParaRPr lang="en-US" sz="1500" dirty="0"/>
          </a:p>
        </p:txBody>
      </p:sp>
      <p:sp>
        <p:nvSpPr>
          <p:cNvPr id="10" name="Text 8"/>
          <p:cNvSpPr/>
          <p:nvPr/>
        </p:nvSpPr>
        <p:spPr>
          <a:xfrm>
            <a:off x="674251" y="5561648"/>
            <a:ext cx="13281898" cy="616268"/>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Evidence Extraction:</a:t>
            </a:r>
            <a:r>
              <a:rPr lang="en-US" sz="1500" dirty="0">
                <a:solidFill>
                  <a:srgbClr val="15213F"/>
                </a:solidFill>
                <a:latin typeface="Roboto" pitchFamily="34" charset="0"/>
                <a:ea typeface="Roboto" pitchFamily="34" charset="-122"/>
                <a:cs typeface="Roboto" pitchFamily="34" charset="-120"/>
              </a:rPr>
              <a:t> To solve the "black box" problem of AI, the EvidenceExtractor locates specific problematic phrases (5-30 words) within the transcript. It calculates exact character start/end positions to highlight issues like "vague terminology" or "logical gaps" directly in the user interface.</a:t>
            </a:r>
            <a:endParaRPr lang="en-US" sz="1500" dirty="0"/>
          </a:p>
        </p:txBody>
      </p:sp>
      <p:sp>
        <p:nvSpPr>
          <p:cNvPr id="11" name="Text 9"/>
          <p:cNvSpPr/>
          <p:nvPr/>
        </p:nvSpPr>
        <p:spPr>
          <a:xfrm>
            <a:off x="674251" y="6245304"/>
            <a:ext cx="13281898" cy="616268"/>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Generative Improvement (Rewriting):</a:t>
            </a:r>
            <a:r>
              <a:rPr lang="en-US" sz="1500" dirty="0">
                <a:solidFill>
                  <a:srgbClr val="15213F"/>
                </a:solidFill>
                <a:latin typeface="Roboto" pitchFamily="34" charset="0"/>
                <a:ea typeface="Roboto" pitchFamily="34" charset="-122"/>
                <a:cs typeface="Roboto" pitchFamily="34" charset="-120"/>
              </a:rPr>
              <a:t> The ExplanationRewriter detects low-clarity segments (score &lt; 7.0) and generates improved versions. It aims to increase the word count by 20-50% to enhance clarity, using prompts that target specific deficiencies like structure or engagement.</a:t>
            </a:r>
            <a:endParaRPr lang="en-US" sz="1500" dirty="0"/>
          </a:p>
        </p:txBody>
      </p:sp>
      <p:sp>
        <p:nvSpPr>
          <p:cNvPr id="12" name="Text 10"/>
          <p:cNvSpPr/>
          <p:nvPr/>
        </p:nvSpPr>
        <p:spPr>
          <a:xfrm>
            <a:off x="674251" y="6928961"/>
            <a:ext cx="13281898" cy="616268"/>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15213F"/>
                </a:solidFill>
                <a:latin typeface="Roboto" pitchFamily="34" charset="0"/>
                <a:ea typeface="Roboto" pitchFamily="34" charset="-122"/>
                <a:cs typeface="Roboto" pitchFamily="34" charset="-120"/>
              </a:rPr>
              <a:t>Coherence Analysis:</a:t>
            </a:r>
            <a:r>
              <a:rPr lang="en-US" sz="1500" dirty="0">
                <a:solidFill>
                  <a:srgbClr val="15213F"/>
                </a:solidFill>
                <a:latin typeface="Roboto" pitchFamily="34" charset="0"/>
                <a:ea typeface="Roboto" pitchFamily="34" charset="-122"/>
                <a:cs typeface="Roboto" pitchFamily="34" charset="-120"/>
              </a:rPr>
              <a:t> The CoherenceChecker analyzes the full session context to detect session-wide issues, specifically looking for contradictions, topic drift, and logical gaps between segments that isolated segment analysis might miss.</a:t>
            </a:r>
            <a:endParaRPr lang="en-US" sz="1500" dirty="0"/>
          </a:p>
        </p:txBody>
      </p:sp>
      <p:pic>
        <p:nvPicPr>
          <p:cNvPr id="14" name="Picture 13">
            <a:extLst>
              <a:ext uri="{FF2B5EF4-FFF2-40B4-BE49-F238E27FC236}">
                <a16:creationId xmlns:a16="http://schemas.microsoft.com/office/drawing/2014/main" id="{28687F06-2050-7A90-117C-259AB5B38C40}"/>
              </a:ext>
            </a:extLst>
          </p:cNvPr>
          <p:cNvPicPr>
            <a:picLocks noChangeAspect="1"/>
          </p:cNvPicPr>
          <p:nvPr/>
        </p:nvPicPr>
        <p:blipFill>
          <a:blip r:embed="rId3"/>
          <a:stretch>
            <a:fillRect/>
          </a:stretch>
        </p:blipFill>
        <p:spPr>
          <a:xfrm>
            <a:off x="11303000" y="7607300"/>
            <a:ext cx="3327400" cy="6223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0799" y="1002863"/>
            <a:ext cx="4635698" cy="486370"/>
          </a:xfrm>
          <a:prstGeom prst="rect">
            <a:avLst/>
          </a:prstGeom>
          <a:noFill/>
          <a:ln/>
        </p:spPr>
        <p:txBody>
          <a:bodyPr wrap="none" lIns="0" tIns="0" rIns="0" bIns="0" rtlCol="0" anchor="t"/>
          <a:lstStyle/>
          <a:p>
            <a:pPr marL="0" indent="0" algn="l">
              <a:lnSpc>
                <a:spcPts val="3800"/>
              </a:lnSpc>
              <a:buNone/>
            </a:pPr>
            <a:r>
              <a:rPr lang="en-US" sz="3050" dirty="0">
                <a:solidFill>
                  <a:srgbClr val="3257B8"/>
                </a:solidFill>
                <a:latin typeface="Roboto Slab" pitchFamily="34" charset="0"/>
                <a:ea typeface="Roboto Slab" pitchFamily="34" charset="-122"/>
                <a:cs typeface="Roboto Slab" pitchFamily="34" charset="-120"/>
              </a:rPr>
              <a:t>3. Technical Architecture</a:t>
            </a:r>
            <a:endParaRPr lang="en-US" sz="3050" dirty="0"/>
          </a:p>
        </p:txBody>
      </p:sp>
      <p:sp>
        <p:nvSpPr>
          <p:cNvPr id="3" name="Text 1"/>
          <p:cNvSpPr/>
          <p:nvPr/>
        </p:nvSpPr>
        <p:spPr>
          <a:xfrm>
            <a:off x="680799" y="1878211"/>
            <a:ext cx="13268801" cy="311229"/>
          </a:xfrm>
          <a:prstGeom prst="rect">
            <a:avLst/>
          </a:prstGeom>
          <a:noFill/>
          <a:ln/>
        </p:spPr>
        <p:txBody>
          <a:bodyPr wrap="none" lIns="0" tIns="0" rIns="0" bIns="0" rtlCol="0" anchor="t"/>
          <a:lstStyle/>
          <a:p>
            <a:pPr marL="0" indent="0" algn="l">
              <a:lnSpc>
                <a:spcPts val="2450"/>
              </a:lnSpc>
              <a:buNone/>
            </a:pPr>
            <a:r>
              <a:rPr lang="en-US" sz="1500" dirty="0">
                <a:solidFill>
                  <a:srgbClr val="15213F"/>
                </a:solidFill>
                <a:latin typeface="Roboto" pitchFamily="34" charset="0"/>
                <a:ea typeface="Roboto" pitchFamily="34" charset="-122"/>
                <a:cs typeface="Roboto" pitchFamily="34" charset="-120"/>
              </a:rPr>
              <a:t>The application follows a modern decoupled architecture, separating the heavy AI processing from the user interface.</a:t>
            </a:r>
            <a:endParaRPr lang="en-US" sz="1500" dirty="0"/>
          </a:p>
        </p:txBody>
      </p:sp>
      <p:sp>
        <p:nvSpPr>
          <p:cNvPr id="4" name="Text 2"/>
          <p:cNvSpPr/>
          <p:nvPr/>
        </p:nvSpPr>
        <p:spPr>
          <a:xfrm>
            <a:off x="680799" y="2481143"/>
            <a:ext cx="3848338" cy="364688"/>
          </a:xfrm>
          <a:prstGeom prst="rect">
            <a:avLst/>
          </a:prstGeom>
          <a:noFill/>
          <a:ln/>
        </p:spPr>
        <p:txBody>
          <a:bodyPr wrap="none" lIns="0" tIns="0" rIns="0" bIns="0" rtlCol="0" anchor="t"/>
          <a:lstStyle/>
          <a:p>
            <a:pPr marL="0" indent="0" algn="l">
              <a:lnSpc>
                <a:spcPts val="2850"/>
              </a:lnSpc>
              <a:buNone/>
            </a:pPr>
            <a:r>
              <a:rPr lang="en-US" sz="2250" dirty="0">
                <a:solidFill>
                  <a:srgbClr val="3257B8"/>
                </a:solidFill>
                <a:latin typeface="Roboto Slab" pitchFamily="34" charset="0"/>
                <a:ea typeface="Roboto Slab" pitchFamily="34" charset="-122"/>
                <a:cs typeface="Roboto Slab" pitchFamily="34" charset="-120"/>
              </a:rPr>
              <a:t>Backend (FastAPI + Python)</a:t>
            </a:r>
            <a:endParaRPr lang="en-US" sz="2250" dirty="0"/>
          </a:p>
        </p:txBody>
      </p:sp>
      <p:sp>
        <p:nvSpPr>
          <p:cNvPr id="5" name="Text 3"/>
          <p:cNvSpPr/>
          <p:nvPr/>
        </p:nvSpPr>
        <p:spPr>
          <a:xfrm>
            <a:off x="680799" y="3137535"/>
            <a:ext cx="13268801" cy="311229"/>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15213F"/>
                </a:solidFill>
                <a:latin typeface="Roboto" pitchFamily="34" charset="0"/>
                <a:ea typeface="Roboto" pitchFamily="34" charset="-122"/>
                <a:cs typeface="Roboto" pitchFamily="34" charset="-120"/>
              </a:rPr>
              <a:t>Framework:</a:t>
            </a:r>
            <a:r>
              <a:rPr lang="en-US" sz="1500" dirty="0">
                <a:solidFill>
                  <a:srgbClr val="15213F"/>
                </a:solidFill>
                <a:latin typeface="Roboto" pitchFamily="34" charset="0"/>
                <a:ea typeface="Roboto" pitchFamily="34" charset="-122"/>
                <a:cs typeface="Roboto" pitchFamily="34" charset="-120"/>
              </a:rPr>
              <a:t> FastAPI is used for high-performance async request handling, essential for long-running AI tasks.</a:t>
            </a:r>
            <a:endParaRPr lang="en-US" sz="1500" dirty="0"/>
          </a:p>
        </p:txBody>
      </p:sp>
      <p:sp>
        <p:nvSpPr>
          <p:cNvPr id="6" name="Text 4"/>
          <p:cNvSpPr/>
          <p:nvPr/>
        </p:nvSpPr>
        <p:spPr>
          <a:xfrm>
            <a:off x="680799" y="3516749"/>
            <a:ext cx="13268801" cy="622459"/>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15213F"/>
                </a:solidFill>
                <a:latin typeface="Roboto" pitchFamily="34" charset="0"/>
                <a:ea typeface="Roboto" pitchFamily="34" charset="-122"/>
                <a:cs typeface="Roboto" pitchFamily="34" charset="-120"/>
              </a:rPr>
              <a:t>Service Layer Pattern:</a:t>
            </a:r>
            <a:r>
              <a:rPr lang="en-US" sz="1500" dirty="0">
                <a:solidFill>
                  <a:srgbClr val="15213F"/>
                </a:solidFill>
                <a:latin typeface="Roboto" pitchFamily="34" charset="0"/>
                <a:ea typeface="Roboto" pitchFamily="34" charset="-122"/>
                <a:cs typeface="Roboto" pitchFamily="34" charset="-120"/>
              </a:rPr>
              <a:t> The codebase is organized into distinct services (transcription.py, llm\_evaluator.py, evidence\_extractor.py, coherence\_checker.py), ensuring modularity and easier testing.</a:t>
            </a:r>
            <a:endParaRPr lang="en-US" sz="1500" dirty="0"/>
          </a:p>
        </p:txBody>
      </p:sp>
      <p:sp>
        <p:nvSpPr>
          <p:cNvPr id="7" name="Text 5"/>
          <p:cNvSpPr/>
          <p:nvPr/>
        </p:nvSpPr>
        <p:spPr>
          <a:xfrm>
            <a:off x="680799" y="4207192"/>
            <a:ext cx="13268801" cy="311229"/>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15213F"/>
                </a:solidFill>
                <a:latin typeface="Roboto" pitchFamily="34" charset="0"/>
                <a:ea typeface="Roboto" pitchFamily="34" charset="-122"/>
                <a:cs typeface="Roboto" pitchFamily="34" charset="-120"/>
              </a:rPr>
              <a:t>Data Persistence:</a:t>
            </a:r>
            <a:r>
              <a:rPr lang="en-US" sz="1500" dirty="0">
                <a:solidFill>
                  <a:srgbClr val="15213F"/>
                </a:solidFill>
                <a:latin typeface="Roboto" pitchFamily="34" charset="0"/>
                <a:ea typeface="Roboto" pitchFamily="34" charset="-122"/>
                <a:cs typeface="Roboto" pitchFamily="34" charset="-120"/>
              </a:rPr>
              <a:t> MongoDB (accessed via Motor async driver) stores user profiles, session metadata, and complex nested evaluation results.</a:t>
            </a:r>
            <a:endParaRPr lang="en-US" sz="1500" dirty="0"/>
          </a:p>
        </p:txBody>
      </p:sp>
      <p:sp>
        <p:nvSpPr>
          <p:cNvPr id="8" name="Text 6"/>
          <p:cNvSpPr/>
          <p:nvPr/>
        </p:nvSpPr>
        <p:spPr>
          <a:xfrm>
            <a:off x="680799" y="4586407"/>
            <a:ext cx="13268801" cy="622459"/>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15213F"/>
                </a:solidFill>
                <a:latin typeface="Roboto" pitchFamily="34" charset="0"/>
                <a:ea typeface="Roboto" pitchFamily="34" charset="-122"/>
                <a:cs typeface="Roboto" pitchFamily="34" charset="-120"/>
              </a:rPr>
              <a:t>Configuration:</a:t>
            </a:r>
            <a:r>
              <a:rPr lang="en-US" sz="1500" dirty="0">
                <a:solidFill>
                  <a:srgbClr val="15213F"/>
                </a:solidFill>
                <a:latin typeface="Roboto" pitchFamily="34" charset="0"/>
                <a:ea typeface="Roboto" pitchFamily="34" charset="-122"/>
                <a:cs typeface="Roboto" pitchFamily="34" charset="-120"/>
              </a:rPr>
              <a:t> A robust config.py manages environment variables, allowing dynamic switching of LLM strategies ("gemini", "groq", or "hybrid") and scoring weights (e.g., Clarity weighted at 0.25).</a:t>
            </a:r>
            <a:endParaRPr lang="en-US" sz="1500" dirty="0"/>
          </a:p>
        </p:txBody>
      </p:sp>
      <p:sp>
        <p:nvSpPr>
          <p:cNvPr id="9" name="Text 7"/>
          <p:cNvSpPr/>
          <p:nvPr/>
        </p:nvSpPr>
        <p:spPr>
          <a:xfrm>
            <a:off x="680799" y="5500568"/>
            <a:ext cx="2917746" cy="364688"/>
          </a:xfrm>
          <a:prstGeom prst="rect">
            <a:avLst/>
          </a:prstGeom>
          <a:noFill/>
          <a:ln/>
        </p:spPr>
        <p:txBody>
          <a:bodyPr wrap="none" lIns="0" tIns="0" rIns="0" bIns="0" rtlCol="0" anchor="t"/>
          <a:lstStyle/>
          <a:p>
            <a:pPr marL="0" indent="0" algn="l">
              <a:lnSpc>
                <a:spcPts val="2850"/>
              </a:lnSpc>
              <a:buNone/>
            </a:pPr>
            <a:r>
              <a:rPr lang="en-US" sz="2250" dirty="0">
                <a:solidFill>
                  <a:srgbClr val="3257B8"/>
                </a:solidFill>
                <a:latin typeface="Roboto Slab" pitchFamily="34" charset="0"/>
                <a:ea typeface="Roboto Slab" pitchFamily="34" charset="-122"/>
                <a:cs typeface="Roboto Slab" pitchFamily="34" charset="-120"/>
              </a:rPr>
              <a:t>Frontend (React)</a:t>
            </a:r>
            <a:endParaRPr lang="en-US" sz="2250" dirty="0"/>
          </a:p>
        </p:txBody>
      </p:sp>
      <p:sp>
        <p:nvSpPr>
          <p:cNvPr id="10" name="Text 8"/>
          <p:cNvSpPr/>
          <p:nvPr/>
        </p:nvSpPr>
        <p:spPr>
          <a:xfrm>
            <a:off x="680799" y="6156960"/>
            <a:ext cx="13268801" cy="311229"/>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15213F"/>
                </a:solidFill>
                <a:latin typeface="Roboto" pitchFamily="34" charset="0"/>
                <a:ea typeface="Roboto" pitchFamily="34" charset="-122"/>
                <a:cs typeface="Roboto" pitchFamily="34" charset="-120"/>
              </a:rPr>
              <a:t>Framework:</a:t>
            </a:r>
            <a:r>
              <a:rPr lang="en-US" sz="1500" dirty="0">
                <a:solidFill>
                  <a:srgbClr val="15213F"/>
                </a:solidFill>
                <a:latin typeface="Roboto" pitchFamily="34" charset="0"/>
                <a:ea typeface="Roboto" pitchFamily="34" charset="-122"/>
                <a:cs typeface="Roboto" pitchFamily="34" charset="-120"/>
              </a:rPr>
              <a:t> React 18 with TailwindCSS for styling.</a:t>
            </a:r>
            <a:endParaRPr lang="en-US" sz="1500" dirty="0"/>
          </a:p>
        </p:txBody>
      </p:sp>
      <p:sp>
        <p:nvSpPr>
          <p:cNvPr id="11" name="Text 9"/>
          <p:cNvSpPr/>
          <p:nvPr/>
        </p:nvSpPr>
        <p:spPr>
          <a:xfrm>
            <a:off x="680799" y="6536174"/>
            <a:ext cx="13268801" cy="311229"/>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15213F"/>
                </a:solidFill>
                <a:latin typeface="Roboto" pitchFamily="34" charset="0"/>
                <a:ea typeface="Roboto" pitchFamily="34" charset="-122"/>
                <a:cs typeface="Roboto" pitchFamily="34" charset="-120"/>
              </a:rPr>
              <a:t>Visualization:</a:t>
            </a:r>
            <a:r>
              <a:rPr lang="en-US" sz="1500" dirty="0">
                <a:solidFill>
                  <a:srgbClr val="15213F"/>
                </a:solidFill>
                <a:latin typeface="Roboto" pitchFamily="34" charset="0"/>
                <a:ea typeface="Roboto" pitchFamily="34" charset="-122"/>
                <a:cs typeface="Roboto" pitchFamily="34" charset="-120"/>
              </a:rPr>
              <a:t> Uses Recharts and D3.js for rendering performance charts and "Explanation Flow Graphs" to visualize teaching quality over time.</a:t>
            </a:r>
            <a:endParaRPr lang="en-US" sz="1500" dirty="0"/>
          </a:p>
        </p:txBody>
      </p:sp>
      <p:sp>
        <p:nvSpPr>
          <p:cNvPr id="12" name="Text 10"/>
          <p:cNvSpPr/>
          <p:nvPr/>
        </p:nvSpPr>
        <p:spPr>
          <a:xfrm>
            <a:off x="680799" y="6915388"/>
            <a:ext cx="13268801" cy="311229"/>
          </a:xfrm>
          <a:prstGeom prst="rect">
            <a:avLst/>
          </a:prstGeom>
          <a:noFill/>
          <a:ln/>
        </p:spPr>
        <p:txBody>
          <a:bodyPr wrap="none" lIns="0" tIns="0" rIns="0" bIns="0" rtlCol="0" anchor="t"/>
          <a:lstStyle/>
          <a:p>
            <a:pPr marL="342900" indent="-342900" algn="l">
              <a:lnSpc>
                <a:spcPts val="2450"/>
              </a:lnSpc>
              <a:buSzPct val="100000"/>
              <a:buChar char="•"/>
            </a:pPr>
            <a:r>
              <a:rPr lang="en-US" sz="1500" b="1" dirty="0">
                <a:solidFill>
                  <a:srgbClr val="15213F"/>
                </a:solidFill>
                <a:latin typeface="Roboto" pitchFamily="34" charset="0"/>
                <a:ea typeface="Roboto" pitchFamily="34" charset="-122"/>
                <a:cs typeface="Roboto" pitchFamily="34" charset="-120"/>
              </a:rPr>
              <a:t>Deployment:</a:t>
            </a:r>
            <a:r>
              <a:rPr lang="en-US" sz="1500" dirty="0">
                <a:solidFill>
                  <a:srgbClr val="15213F"/>
                </a:solidFill>
                <a:latin typeface="Roboto" pitchFamily="34" charset="0"/>
                <a:ea typeface="Roboto" pitchFamily="34" charset="-122"/>
                <a:cs typeface="Roboto" pitchFamily="34" charset="-120"/>
              </a:rPr>
              <a:t> The frontend is deployed on Vercel, while the backend resides on Hugging Face Spaces to leverage GPU/inference capabilities if needed.</a:t>
            </a:r>
            <a:endParaRPr lang="en-US" sz="1500" dirty="0"/>
          </a:p>
        </p:txBody>
      </p:sp>
      <p:pic>
        <p:nvPicPr>
          <p:cNvPr id="14" name="Picture 13">
            <a:extLst>
              <a:ext uri="{FF2B5EF4-FFF2-40B4-BE49-F238E27FC236}">
                <a16:creationId xmlns:a16="http://schemas.microsoft.com/office/drawing/2014/main" id="{D95F1F87-0DF2-F12A-D982-5FD8FAB0B60C}"/>
              </a:ext>
            </a:extLst>
          </p:cNvPr>
          <p:cNvPicPr>
            <a:picLocks noChangeAspect="1"/>
          </p:cNvPicPr>
          <p:nvPr/>
        </p:nvPicPr>
        <p:blipFill>
          <a:blip r:embed="rId3"/>
          <a:stretch>
            <a:fillRect/>
          </a:stretch>
        </p:blipFill>
        <p:spPr>
          <a:xfrm>
            <a:off x="11252200" y="7487062"/>
            <a:ext cx="3378200" cy="736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4965" y="588288"/>
            <a:ext cx="5407938" cy="481965"/>
          </a:xfrm>
          <a:prstGeom prst="rect">
            <a:avLst/>
          </a:prstGeom>
          <a:noFill/>
          <a:ln/>
        </p:spPr>
        <p:txBody>
          <a:bodyPr wrap="none" lIns="0" tIns="0" rIns="0" bIns="0" rtlCol="0" anchor="t"/>
          <a:lstStyle/>
          <a:p>
            <a:pPr marL="0" indent="0" algn="l">
              <a:lnSpc>
                <a:spcPts val="3750"/>
              </a:lnSpc>
              <a:buNone/>
            </a:pPr>
            <a:r>
              <a:rPr lang="en-US" sz="3000" dirty="0">
                <a:solidFill>
                  <a:srgbClr val="3257B8"/>
                </a:solidFill>
                <a:latin typeface="Roboto Slab" pitchFamily="34" charset="0"/>
                <a:ea typeface="Roboto Slab" pitchFamily="34" charset="-122"/>
                <a:cs typeface="Roboto Slab" pitchFamily="34" charset="-120"/>
              </a:rPr>
              <a:t>4. Challenges and Mitigations</a:t>
            </a:r>
            <a:endParaRPr lang="en-US" sz="3000" dirty="0"/>
          </a:p>
        </p:txBody>
      </p:sp>
      <p:sp>
        <p:nvSpPr>
          <p:cNvPr id="3" name="Shape 1"/>
          <p:cNvSpPr/>
          <p:nvPr/>
        </p:nvSpPr>
        <p:spPr>
          <a:xfrm>
            <a:off x="674965" y="1455896"/>
            <a:ext cx="13280469" cy="6185297"/>
          </a:xfrm>
          <a:prstGeom prst="roundRect">
            <a:avLst>
              <a:gd name="adj" fmla="val 468"/>
            </a:avLst>
          </a:prstGeom>
          <a:noFill/>
          <a:ln w="7620">
            <a:solidFill>
              <a:srgbClr val="000000">
                <a:alpha val="8000"/>
              </a:srgbClr>
            </a:solidFill>
            <a:prstDash val="solid"/>
          </a:ln>
        </p:spPr>
      </p:sp>
      <p:sp>
        <p:nvSpPr>
          <p:cNvPr id="4" name="Shape 2"/>
          <p:cNvSpPr/>
          <p:nvPr/>
        </p:nvSpPr>
        <p:spPr>
          <a:xfrm>
            <a:off x="682585" y="1463516"/>
            <a:ext cx="13265229" cy="555069"/>
          </a:xfrm>
          <a:prstGeom prst="rect">
            <a:avLst/>
          </a:prstGeom>
          <a:solidFill>
            <a:srgbClr val="FFFFFF">
              <a:alpha val="4000"/>
            </a:srgbClr>
          </a:solidFill>
          <a:ln/>
        </p:spPr>
      </p:sp>
      <p:sp>
        <p:nvSpPr>
          <p:cNvPr id="5" name="Text 3"/>
          <p:cNvSpPr/>
          <p:nvPr/>
        </p:nvSpPr>
        <p:spPr>
          <a:xfrm>
            <a:off x="875348" y="1586746"/>
            <a:ext cx="6243280" cy="308610"/>
          </a:xfrm>
          <a:prstGeom prst="rect">
            <a:avLst/>
          </a:prstGeom>
          <a:noFill/>
          <a:ln/>
        </p:spPr>
        <p:txBody>
          <a:bodyPr wrap="none" lIns="0" tIns="0" rIns="0" bIns="0" rtlCol="0" anchor="t"/>
          <a:lstStyle/>
          <a:p>
            <a:pPr marL="0" indent="0" algn="l">
              <a:lnSpc>
                <a:spcPts val="2400"/>
              </a:lnSpc>
              <a:buNone/>
            </a:pPr>
            <a:r>
              <a:rPr lang="en-US" sz="1500" b="1" dirty="0">
                <a:solidFill>
                  <a:srgbClr val="15213F"/>
                </a:solidFill>
                <a:latin typeface="Roboto" pitchFamily="34" charset="0"/>
                <a:ea typeface="Roboto" pitchFamily="34" charset="-122"/>
                <a:cs typeface="Roboto" pitchFamily="34" charset="-120"/>
              </a:rPr>
              <a:t>Challenge</a:t>
            </a:r>
            <a:endParaRPr lang="en-US" sz="1500" dirty="0"/>
          </a:p>
        </p:txBody>
      </p:sp>
      <p:sp>
        <p:nvSpPr>
          <p:cNvPr id="6" name="Text 4"/>
          <p:cNvSpPr/>
          <p:nvPr/>
        </p:nvSpPr>
        <p:spPr>
          <a:xfrm>
            <a:off x="7511772" y="1586746"/>
            <a:ext cx="6243280" cy="308610"/>
          </a:xfrm>
          <a:prstGeom prst="rect">
            <a:avLst/>
          </a:prstGeom>
          <a:noFill/>
          <a:ln/>
        </p:spPr>
        <p:txBody>
          <a:bodyPr wrap="none" lIns="0" tIns="0" rIns="0" bIns="0" rtlCol="0" anchor="t"/>
          <a:lstStyle/>
          <a:p>
            <a:pPr marL="0" indent="0" algn="l">
              <a:lnSpc>
                <a:spcPts val="2400"/>
              </a:lnSpc>
              <a:buNone/>
            </a:pPr>
            <a:r>
              <a:rPr lang="en-US" sz="1500" b="1" dirty="0">
                <a:solidFill>
                  <a:srgbClr val="15213F"/>
                </a:solidFill>
                <a:latin typeface="Roboto" pitchFamily="34" charset="0"/>
                <a:ea typeface="Roboto" pitchFamily="34" charset="-122"/>
                <a:cs typeface="Roboto" pitchFamily="34" charset="-120"/>
              </a:rPr>
              <a:t>Technical Mitigation</a:t>
            </a:r>
            <a:endParaRPr lang="en-US" sz="1500" dirty="0"/>
          </a:p>
        </p:txBody>
      </p:sp>
      <p:sp>
        <p:nvSpPr>
          <p:cNvPr id="7" name="Shape 5"/>
          <p:cNvSpPr/>
          <p:nvPr/>
        </p:nvSpPr>
        <p:spPr>
          <a:xfrm>
            <a:off x="682585" y="2018586"/>
            <a:ext cx="13265229" cy="1480899"/>
          </a:xfrm>
          <a:prstGeom prst="rect">
            <a:avLst/>
          </a:prstGeom>
          <a:solidFill>
            <a:srgbClr val="000000">
              <a:alpha val="4000"/>
            </a:srgbClr>
          </a:solidFill>
          <a:ln/>
        </p:spPr>
      </p:sp>
      <p:sp>
        <p:nvSpPr>
          <p:cNvPr id="8" name="Text 6"/>
          <p:cNvSpPr/>
          <p:nvPr/>
        </p:nvSpPr>
        <p:spPr>
          <a:xfrm>
            <a:off x="875348" y="2141815"/>
            <a:ext cx="6243280" cy="308610"/>
          </a:xfrm>
          <a:prstGeom prst="rect">
            <a:avLst/>
          </a:prstGeom>
          <a:noFill/>
          <a:ln/>
        </p:spPr>
        <p:txBody>
          <a:bodyPr wrap="none" lIns="0" tIns="0" rIns="0" bIns="0" rtlCol="0" anchor="t"/>
          <a:lstStyle/>
          <a:p>
            <a:pPr marL="0" indent="0" algn="l">
              <a:lnSpc>
                <a:spcPts val="2400"/>
              </a:lnSpc>
              <a:buNone/>
            </a:pPr>
            <a:r>
              <a:rPr lang="en-US" sz="1500" b="1" dirty="0">
                <a:solidFill>
                  <a:srgbClr val="15213F"/>
                </a:solidFill>
                <a:latin typeface="Roboto" pitchFamily="34" charset="0"/>
                <a:ea typeface="Roboto" pitchFamily="34" charset="-122"/>
                <a:cs typeface="Roboto" pitchFamily="34" charset="-120"/>
              </a:rPr>
              <a:t>Hallucination of Evidence</a:t>
            </a:r>
            <a:endParaRPr lang="en-US" sz="1500" dirty="0"/>
          </a:p>
        </p:txBody>
      </p:sp>
      <p:sp>
        <p:nvSpPr>
          <p:cNvPr id="9" name="Text 7"/>
          <p:cNvSpPr/>
          <p:nvPr/>
        </p:nvSpPr>
        <p:spPr>
          <a:xfrm>
            <a:off x="7511772" y="2141815"/>
            <a:ext cx="6243280" cy="1234440"/>
          </a:xfrm>
          <a:prstGeom prst="rect">
            <a:avLst/>
          </a:prstGeom>
          <a:noFill/>
          <a:ln/>
        </p:spPr>
        <p:txBody>
          <a:bodyPr wrap="square" lIns="0" tIns="0" rIns="0" bIns="0" rtlCol="0" anchor="t"/>
          <a:lstStyle/>
          <a:p>
            <a:pPr marL="0" indent="0" algn="l">
              <a:lnSpc>
                <a:spcPts val="2400"/>
              </a:lnSpc>
              <a:buNone/>
            </a:pPr>
            <a:r>
              <a:rPr lang="en-US" sz="1500" dirty="0">
                <a:solidFill>
                  <a:srgbClr val="15213F"/>
                </a:solidFill>
                <a:latin typeface="Roboto" pitchFamily="34" charset="0"/>
                <a:ea typeface="Roboto" pitchFamily="34" charset="-122"/>
                <a:cs typeface="Roboto" pitchFamily="34" charset="-120"/>
              </a:rPr>
              <a:t>The EvidenceExtractor validates that every extracted "problematic phrase" actually exists in the source text before returning it. It uses strict string matching to ensure the UI highlights real text rather than hallucinated quotes.</a:t>
            </a:r>
            <a:endParaRPr lang="en-US" sz="1500" dirty="0"/>
          </a:p>
        </p:txBody>
      </p:sp>
      <p:sp>
        <p:nvSpPr>
          <p:cNvPr id="10" name="Shape 8"/>
          <p:cNvSpPr/>
          <p:nvPr/>
        </p:nvSpPr>
        <p:spPr>
          <a:xfrm>
            <a:off x="682585" y="3499485"/>
            <a:ext cx="13265229" cy="1480899"/>
          </a:xfrm>
          <a:prstGeom prst="rect">
            <a:avLst/>
          </a:prstGeom>
          <a:solidFill>
            <a:srgbClr val="FFFFFF">
              <a:alpha val="4000"/>
            </a:srgbClr>
          </a:solidFill>
          <a:ln/>
        </p:spPr>
      </p:sp>
      <p:sp>
        <p:nvSpPr>
          <p:cNvPr id="11" name="Text 9"/>
          <p:cNvSpPr/>
          <p:nvPr/>
        </p:nvSpPr>
        <p:spPr>
          <a:xfrm>
            <a:off x="875348" y="3622715"/>
            <a:ext cx="6243280" cy="308610"/>
          </a:xfrm>
          <a:prstGeom prst="rect">
            <a:avLst/>
          </a:prstGeom>
          <a:noFill/>
          <a:ln/>
        </p:spPr>
        <p:txBody>
          <a:bodyPr wrap="none" lIns="0" tIns="0" rIns="0" bIns="0" rtlCol="0" anchor="t"/>
          <a:lstStyle/>
          <a:p>
            <a:pPr marL="0" indent="0" algn="l">
              <a:lnSpc>
                <a:spcPts val="2400"/>
              </a:lnSpc>
              <a:buNone/>
            </a:pPr>
            <a:r>
              <a:rPr lang="en-US" sz="1500" b="1" dirty="0">
                <a:solidFill>
                  <a:srgbClr val="15213F"/>
                </a:solidFill>
                <a:latin typeface="Roboto" pitchFamily="34" charset="0"/>
                <a:ea typeface="Roboto" pitchFamily="34" charset="-122"/>
                <a:cs typeface="Roboto" pitchFamily="34" charset="-120"/>
              </a:rPr>
              <a:t>LLM Output Instability</a:t>
            </a:r>
            <a:endParaRPr lang="en-US" sz="1500" dirty="0"/>
          </a:p>
        </p:txBody>
      </p:sp>
      <p:sp>
        <p:nvSpPr>
          <p:cNvPr id="12" name="Text 10"/>
          <p:cNvSpPr/>
          <p:nvPr/>
        </p:nvSpPr>
        <p:spPr>
          <a:xfrm>
            <a:off x="7511772" y="3622715"/>
            <a:ext cx="6243280" cy="1234440"/>
          </a:xfrm>
          <a:prstGeom prst="rect">
            <a:avLst/>
          </a:prstGeom>
          <a:noFill/>
          <a:ln/>
        </p:spPr>
        <p:txBody>
          <a:bodyPr wrap="square" lIns="0" tIns="0" rIns="0" bIns="0" rtlCol="0" anchor="t"/>
          <a:lstStyle/>
          <a:p>
            <a:pPr marL="0" indent="0" algn="l">
              <a:lnSpc>
                <a:spcPts val="2400"/>
              </a:lnSpc>
              <a:buNone/>
            </a:pPr>
            <a:r>
              <a:rPr lang="en-US" sz="1500" dirty="0">
                <a:solidFill>
                  <a:srgbClr val="15213F"/>
                </a:solidFill>
                <a:latin typeface="Roboto" pitchFamily="34" charset="0"/>
                <a:ea typeface="Roboto" pitchFamily="34" charset="-122"/>
                <a:cs typeface="Roboto" pitchFamily="34" charset="-120"/>
              </a:rPr>
              <a:t>The system enforces strict JSON response formats in prompts. The LLM Evaluator includes validation logic that checks for required keys (e.g., 'clarity', 'score') and falls back to a mock evaluation if the LLM output is malformed, ensuring system stability.</a:t>
            </a:r>
            <a:endParaRPr lang="en-US" sz="1500" dirty="0"/>
          </a:p>
        </p:txBody>
      </p:sp>
      <p:sp>
        <p:nvSpPr>
          <p:cNvPr id="13" name="Shape 11"/>
          <p:cNvSpPr/>
          <p:nvPr/>
        </p:nvSpPr>
        <p:spPr>
          <a:xfrm>
            <a:off x="682585" y="4980384"/>
            <a:ext cx="13265229" cy="1480899"/>
          </a:xfrm>
          <a:prstGeom prst="rect">
            <a:avLst/>
          </a:prstGeom>
          <a:solidFill>
            <a:srgbClr val="000000">
              <a:alpha val="4000"/>
            </a:srgbClr>
          </a:solidFill>
          <a:ln/>
        </p:spPr>
      </p:sp>
      <p:sp>
        <p:nvSpPr>
          <p:cNvPr id="14" name="Text 12"/>
          <p:cNvSpPr/>
          <p:nvPr/>
        </p:nvSpPr>
        <p:spPr>
          <a:xfrm>
            <a:off x="875348" y="5103614"/>
            <a:ext cx="6243280" cy="308610"/>
          </a:xfrm>
          <a:prstGeom prst="rect">
            <a:avLst/>
          </a:prstGeom>
          <a:noFill/>
          <a:ln/>
        </p:spPr>
        <p:txBody>
          <a:bodyPr wrap="none" lIns="0" tIns="0" rIns="0" bIns="0" rtlCol="0" anchor="t"/>
          <a:lstStyle/>
          <a:p>
            <a:pPr marL="0" indent="0" algn="l">
              <a:lnSpc>
                <a:spcPts val="2400"/>
              </a:lnSpc>
              <a:buNone/>
            </a:pPr>
            <a:r>
              <a:rPr lang="en-US" sz="1500" b="1" dirty="0">
                <a:solidFill>
                  <a:srgbClr val="15213F"/>
                </a:solidFill>
                <a:latin typeface="Roboto" pitchFamily="34" charset="0"/>
                <a:ea typeface="Roboto" pitchFamily="34" charset="-122"/>
                <a:cs typeface="Roboto" pitchFamily="34" charset="-120"/>
              </a:rPr>
              <a:t>Subjectivity of "Relevance"</a:t>
            </a:r>
            <a:endParaRPr lang="en-US" sz="1500" dirty="0"/>
          </a:p>
        </p:txBody>
      </p:sp>
      <p:sp>
        <p:nvSpPr>
          <p:cNvPr id="15" name="Text 13"/>
          <p:cNvSpPr/>
          <p:nvPr/>
        </p:nvSpPr>
        <p:spPr>
          <a:xfrm>
            <a:off x="7511772" y="5103614"/>
            <a:ext cx="6243280" cy="1234440"/>
          </a:xfrm>
          <a:prstGeom prst="rect">
            <a:avLst/>
          </a:prstGeom>
          <a:noFill/>
          <a:ln/>
        </p:spPr>
        <p:txBody>
          <a:bodyPr wrap="square" lIns="0" tIns="0" rIns="0" bIns="0" rtlCol="0" anchor="t"/>
          <a:lstStyle/>
          <a:p>
            <a:pPr marL="0" indent="0" algn="l">
              <a:lnSpc>
                <a:spcPts val="2400"/>
              </a:lnSpc>
              <a:buNone/>
            </a:pPr>
            <a:r>
              <a:rPr lang="en-US" sz="1500" dirty="0">
                <a:solidFill>
                  <a:srgbClr val="15213F"/>
                </a:solidFill>
                <a:latin typeface="Roboto" pitchFamily="34" charset="0"/>
                <a:ea typeface="Roboto" pitchFamily="34" charset="-122"/>
                <a:cs typeface="Roboto" pitchFamily="34" charset="-120"/>
              </a:rPr>
              <a:t>The prompting strategy explicitly instructs the LLM to value "related topics" that enhance understanding (scoring them 8-10) and only penalize completely unrelated tangents, preventing valid teaching analogies from being flagged as "off-topic".</a:t>
            </a:r>
            <a:endParaRPr lang="en-US" sz="1500" dirty="0"/>
          </a:p>
        </p:txBody>
      </p:sp>
      <p:sp>
        <p:nvSpPr>
          <p:cNvPr id="16" name="Shape 14"/>
          <p:cNvSpPr/>
          <p:nvPr/>
        </p:nvSpPr>
        <p:spPr>
          <a:xfrm>
            <a:off x="682585" y="6461284"/>
            <a:ext cx="13265229" cy="1172289"/>
          </a:xfrm>
          <a:prstGeom prst="rect">
            <a:avLst/>
          </a:prstGeom>
          <a:solidFill>
            <a:srgbClr val="FFFFFF">
              <a:alpha val="4000"/>
            </a:srgbClr>
          </a:solidFill>
          <a:ln/>
        </p:spPr>
      </p:sp>
      <p:sp>
        <p:nvSpPr>
          <p:cNvPr id="17" name="Text 15"/>
          <p:cNvSpPr/>
          <p:nvPr/>
        </p:nvSpPr>
        <p:spPr>
          <a:xfrm>
            <a:off x="875348" y="6584513"/>
            <a:ext cx="6243280" cy="308610"/>
          </a:xfrm>
          <a:prstGeom prst="rect">
            <a:avLst/>
          </a:prstGeom>
          <a:noFill/>
          <a:ln/>
        </p:spPr>
        <p:txBody>
          <a:bodyPr wrap="none" lIns="0" tIns="0" rIns="0" bIns="0" rtlCol="0" anchor="t"/>
          <a:lstStyle/>
          <a:p>
            <a:pPr marL="0" indent="0" algn="l">
              <a:lnSpc>
                <a:spcPts val="2400"/>
              </a:lnSpc>
              <a:buNone/>
            </a:pPr>
            <a:r>
              <a:rPr lang="en-US" sz="1500" b="1" dirty="0">
                <a:solidFill>
                  <a:srgbClr val="15213F"/>
                </a:solidFill>
                <a:latin typeface="Roboto" pitchFamily="34" charset="0"/>
                <a:ea typeface="Roboto" pitchFamily="34" charset="-122"/>
                <a:cs typeface="Roboto" pitchFamily="34" charset="-120"/>
              </a:rPr>
              <a:t>Processing Latency</a:t>
            </a:r>
            <a:endParaRPr lang="en-US" sz="1500" dirty="0"/>
          </a:p>
        </p:txBody>
      </p:sp>
      <p:sp>
        <p:nvSpPr>
          <p:cNvPr id="18" name="Text 16"/>
          <p:cNvSpPr/>
          <p:nvPr/>
        </p:nvSpPr>
        <p:spPr>
          <a:xfrm>
            <a:off x="7511772" y="6584513"/>
            <a:ext cx="6243280" cy="925830"/>
          </a:xfrm>
          <a:prstGeom prst="rect">
            <a:avLst/>
          </a:prstGeom>
          <a:noFill/>
          <a:ln/>
        </p:spPr>
        <p:txBody>
          <a:bodyPr wrap="square" lIns="0" tIns="0" rIns="0" bIns="0" rtlCol="0" anchor="t"/>
          <a:lstStyle/>
          <a:p>
            <a:pPr marL="0" indent="0" algn="l">
              <a:lnSpc>
                <a:spcPts val="2400"/>
              </a:lnSpc>
              <a:buNone/>
            </a:pPr>
            <a:r>
              <a:rPr lang="en-US" sz="1500" dirty="0">
                <a:solidFill>
                  <a:srgbClr val="15213F"/>
                </a:solidFill>
                <a:latin typeface="Roboto" pitchFamily="34" charset="0"/>
                <a:ea typeface="Roboto" pitchFamily="34" charset="-122"/>
                <a:cs typeface="Roboto" pitchFamily="34" charset="-120"/>
              </a:rPr>
              <a:t>The architecture supports asynchronous processing. The transcription service polls the Gemini API for file processing status (PROCESSING -&gt; ACTIVE), preventing timeouts on large video files.</a:t>
            </a:r>
            <a:endParaRPr lang="en-US" sz="1500" dirty="0"/>
          </a:p>
        </p:txBody>
      </p:sp>
      <p:pic>
        <p:nvPicPr>
          <p:cNvPr id="20" name="Picture 19">
            <a:extLst>
              <a:ext uri="{FF2B5EF4-FFF2-40B4-BE49-F238E27FC236}">
                <a16:creationId xmlns:a16="http://schemas.microsoft.com/office/drawing/2014/main" id="{59ACEA9D-F256-1C90-8CC4-6187B7E9950F}"/>
              </a:ext>
            </a:extLst>
          </p:cNvPr>
          <p:cNvPicPr>
            <a:picLocks noChangeAspect="1"/>
          </p:cNvPicPr>
          <p:nvPr/>
        </p:nvPicPr>
        <p:blipFill>
          <a:blip r:embed="rId3"/>
          <a:stretch>
            <a:fillRect/>
          </a:stretch>
        </p:blipFill>
        <p:spPr>
          <a:xfrm>
            <a:off x="11163300" y="7543800"/>
            <a:ext cx="3467100" cy="685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938570"/>
            <a:ext cx="5479613" cy="566976"/>
          </a:xfrm>
          <a:prstGeom prst="rect">
            <a:avLst/>
          </a:prstGeom>
          <a:noFill/>
          <a:ln/>
        </p:spPr>
        <p:txBody>
          <a:bodyPr wrap="none" lIns="0" tIns="0" rIns="0" bIns="0" rtlCol="0" anchor="t"/>
          <a:lstStyle/>
          <a:p>
            <a:pPr marL="0" indent="0" algn="l">
              <a:lnSpc>
                <a:spcPts val="4450"/>
              </a:lnSpc>
              <a:buNone/>
            </a:pPr>
            <a:r>
              <a:rPr lang="en-US" sz="3550" dirty="0">
                <a:solidFill>
                  <a:srgbClr val="3257B8"/>
                </a:solidFill>
                <a:latin typeface="Roboto Slab" pitchFamily="34" charset="0"/>
                <a:ea typeface="Roboto Slab" pitchFamily="34" charset="-122"/>
                <a:cs typeface="Roboto Slab" pitchFamily="34" charset="-120"/>
              </a:rPr>
              <a:t>5. Roadmap to Final Build</a:t>
            </a:r>
            <a:endParaRPr lang="en-US" sz="3550" dirty="0"/>
          </a:p>
        </p:txBody>
      </p:sp>
      <p:sp>
        <p:nvSpPr>
          <p:cNvPr id="3" name="Text 1"/>
          <p:cNvSpPr/>
          <p:nvPr/>
        </p:nvSpPr>
        <p:spPr>
          <a:xfrm>
            <a:off x="793790" y="195917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4" name="Image 0" descr="preencoded.png"/>
          <p:cNvPicPr>
            <a:picLocks noChangeAspect="1"/>
          </p:cNvPicPr>
          <p:nvPr/>
        </p:nvPicPr>
        <p:blipFill>
          <a:blip r:embed="rId3"/>
          <a:stretch>
            <a:fillRect/>
          </a:stretch>
        </p:blipFill>
        <p:spPr>
          <a:xfrm>
            <a:off x="793790" y="2314218"/>
            <a:ext cx="4196358" cy="30480"/>
          </a:xfrm>
          <a:prstGeom prst="rect">
            <a:avLst/>
          </a:prstGeom>
        </p:spPr>
      </p:pic>
      <p:sp>
        <p:nvSpPr>
          <p:cNvPr id="5" name="Text 2"/>
          <p:cNvSpPr/>
          <p:nvPr/>
        </p:nvSpPr>
        <p:spPr>
          <a:xfrm>
            <a:off x="793790" y="2488525"/>
            <a:ext cx="4196358" cy="708660"/>
          </a:xfrm>
          <a:prstGeom prst="rect">
            <a:avLst/>
          </a:prstGeom>
          <a:noFill/>
          <a:ln/>
        </p:spPr>
        <p:txBody>
          <a:bodyPr wrap="squar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Phase 1: Core Foundation (Completed)</a:t>
            </a:r>
            <a:endParaRPr lang="en-US" sz="2200" dirty="0"/>
          </a:p>
        </p:txBody>
      </p:sp>
      <p:sp>
        <p:nvSpPr>
          <p:cNvPr id="6" name="Text 3"/>
          <p:cNvSpPr/>
          <p:nvPr/>
        </p:nvSpPr>
        <p:spPr>
          <a:xfrm>
            <a:off x="793790" y="3333274"/>
            <a:ext cx="4196358"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Implementation of user auth (Firebase), video upload, and basic mentor management.</a:t>
            </a:r>
            <a:endParaRPr lang="en-US" sz="1750" dirty="0"/>
          </a:p>
        </p:txBody>
      </p:sp>
      <p:sp>
        <p:nvSpPr>
          <p:cNvPr id="7" name="Text 4"/>
          <p:cNvSpPr/>
          <p:nvPr/>
        </p:nvSpPr>
        <p:spPr>
          <a:xfrm>
            <a:off x="793790" y="4501277"/>
            <a:ext cx="4196358"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Deployment of the transcription pipeline and core 5-metric evaluation system.</a:t>
            </a:r>
            <a:endParaRPr lang="en-US" sz="1750" dirty="0"/>
          </a:p>
        </p:txBody>
      </p:sp>
      <p:sp>
        <p:nvSpPr>
          <p:cNvPr id="8" name="Text 5"/>
          <p:cNvSpPr/>
          <p:nvPr/>
        </p:nvSpPr>
        <p:spPr>
          <a:xfrm>
            <a:off x="5216962" y="195917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9" name="Image 1" descr="preencoded.png"/>
          <p:cNvPicPr>
            <a:picLocks noChangeAspect="1"/>
          </p:cNvPicPr>
          <p:nvPr/>
        </p:nvPicPr>
        <p:blipFill>
          <a:blip r:embed="rId3"/>
          <a:stretch>
            <a:fillRect/>
          </a:stretch>
        </p:blipFill>
        <p:spPr>
          <a:xfrm>
            <a:off x="5216962" y="2314218"/>
            <a:ext cx="4196358" cy="30480"/>
          </a:xfrm>
          <a:prstGeom prst="rect">
            <a:avLst/>
          </a:prstGeom>
        </p:spPr>
      </p:pic>
      <p:sp>
        <p:nvSpPr>
          <p:cNvPr id="10" name="Text 6"/>
          <p:cNvSpPr/>
          <p:nvPr/>
        </p:nvSpPr>
        <p:spPr>
          <a:xfrm>
            <a:off x="5216962" y="2488525"/>
            <a:ext cx="4196358" cy="708660"/>
          </a:xfrm>
          <a:prstGeom prst="rect">
            <a:avLst/>
          </a:prstGeom>
          <a:noFill/>
          <a:ln/>
        </p:spPr>
        <p:txBody>
          <a:bodyPr wrap="squar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Phase 2: Deep Analytics (In Progress/Beta)</a:t>
            </a:r>
            <a:endParaRPr lang="en-US" sz="2200" dirty="0"/>
          </a:p>
        </p:txBody>
      </p:sp>
      <p:sp>
        <p:nvSpPr>
          <p:cNvPr id="11" name="Text 7"/>
          <p:cNvSpPr/>
          <p:nvPr/>
        </p:nvSpPr>
        <p:spPr>
          <a:xfrm>
            <a:off x="5216962" y="3333274"/>
            <a:ext cx="4196358"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Evidence Extraction:</a:t>
            </a:r>
            <a:r>
              <a:rPr lang="en-US" sz="1750" dirty="0">
                <a:solidFill>
                  <a:srgbClr val="15213F"/>
                </a:solidFill>
                <a:latin typeface="Roboto" pitchFamily="34" charset="0"/>
                <a:ea typeface="Roboto" pitchFamily="34" charset="-122"/>
                <a:cs typeface="Roboto" pitchFamily="34" charset="-120"/>
              </a:rPr>
              <a:t> Logic is implemented to pinpoint exact character indices of errors.</a:t>
            </a:r>
            <a:endParaRPr lang="en-US" sz="1750" dirty="0"/>
          </a:p>
        </p:txBody>
      </p:sp>
      <p:sp>
        <p:nvSpPr>
          <p:cNvPr id="12" name="Text 8"/>
          <p:cNvSpPr/>
          <p:nvPr/>
        </p:nvSpPr>
        <p:spPr>
          <a:xfrm>
            <a:off x="5216962" y="4501277"/>
            <a:ext cx="4196358" cy="1451610"/>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Smart Rewrites:</a:t>
            </a:r>
            <a:r>
              <a:rPr lang="en-US" sz="1750" dirty="0">
                <a:solidFill>
                  <a:srgbClr val="15213F"/>
                </a:solidFill>
                <a:latin typeface="Roboto" pitchFamily="34" charset="0"/>
                <a:ea typeface="Roboto" pitchFamily="34" charset="-122"/>
                <a:cs typeface="Roboto" pitchFamily="34" charset="-120"/>
              </a:rPr>
              <a:t> The backend now supports generating specific "Before/After" comparisons with confidence scoring.</a:t>
            </a:r>
            <a:endParaRPr lang="en-US" sz="1750" dirty="0"/>
          </a:p>
        </p:txBody>
      </p:sp>
      <p:sp>
        <p:nvSpPr>
          <p:cNvPr id="13" name="Text 9"/>
          <p:cNvSpPr/>
          <p:nvPr/>
        </p:nvSpPr>
        <p:spPr>
          <a:xfrm>
            <a:off x="5216962" y="6032183"/>
            <a:ext cx="4196358"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Coherence Checking:</a:t>
            </a:r>
            <a:r>
              <a:rPr lang="en-US" sz="1750" dirty="0">
                <a:solidFill>
                  <a:srgbClr val="15213F"/>
                </a:solidFill>
                <a:latin typeface="Roboto" pitchFamily="34" charset="0"/>
                <a:ea typeface="Roboto" pitchFamily="34" charset="-122"/>
                <a:cs typeface="Roboto" pitchFamily="34" charset="-120"/>
              </a:rPr>
              <a:t> Algorithms for detecting contradictions and logical gaps are implemented in the backend.</a:t>
            </a:r>
            <a:endParaRPr lang="en-US" sz="1750" dirty="0"/>
          </a:p>
        </p:txBody>
      </p:sp>
      <p:sp>
        <p:nvSpPr>
          <p:cNvPr id="14" name="Text 10"/>
          <p:cNvSpPr/>
          <p:nvPr/>
        </p:nvSpPr>
        <p:spPr>
          <a:xfrm>
            <a:off x="9640133" y="195917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5" name="Image 2" descr="preencoded.png"/>
          <p:cNvPicPr>
            <a:picLocks noChangeAspect="1"/>
          </p:cNvPicPr>
          <p:nvPr/>
        </p:nvPicPr>
        <p:blipFill>
          <a:blip r:embed="rId3"/>
          <a:stretch>
            <a:fillRect/>
          </a:stretch>
        </p:blipFill>
        <p:spPr>
          <a:xfrm>
            <a:off x="9640133" y="2336959"/>
            <a:ext cx="4196358" cy="30480"/>
          </a:xfrm>
          <a:prstGeom prst="rect">
            <a:avLst/>
          </a:prstGeom>
        </p:spPr>
      </p:pic>
      <p:sp>
        <p:nvSpPr>
          <p:cNvPr id="16" name="Text 11"/>
          <p:cNvSpPr/>
          <p:nvPr/>
        </p:nvSpPr>
        <p:spPr>
          <a:xfrm>
            <a:off x="9640133" y="2488525"/>
            <a:ext cx="4196358" cy="708660"/>
          </a:xfrm>
          <a:prstGeom prst="rect">
            <a:avLst/>
          </a:prstGeom>
          <a:noFill/>
          <a:ln/>
        </p:spPr>
        <p:txBody>
          <a:bodyPr wrap="squar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Phase 3: Advanced &amp; Enterprise (Planned)</a:t>
            </a:r>
            <a:endParaRPr lang="en-US" sz="2200" dirty="0"/>
          </a:p>
        </p:txBody>
      </p:sp>
      <p:sp>
        <p:nvSpPr>
          <p:cNvPr id="17" name="Text 12"/>
          <p:cNvSpPr/>
          <p:nvPr/>
        </p:nvSpPr>
        <p:spPr>
          <a:xfrm>
            <a:off x="9640133" y="3333274"/>
            <a:ext cx="4196358"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Predictive Insights:</a:t>
            </a:r>
            <a:r>
              <a:rPr lang="en-US" sz="1750" dirty="0">
                <a:solidFill>
                  <a:srgbClr val="15213F"/>
                </a:solidFill>
                <a:latin typeface="Roboto" pitchFamily="34" charset="0"/>
                <a:ea typeface="Roboto" pitchFamily="34" charset="-122"/>
                <a:cs typeface="Roboto" pitchFamily="34" charset="-120"/>
              </a:rPr>
              <a:t> ML-based predictions for mentor improvement trajectories.</a:t>
            </a:r>
            <a:endParaRPr lang="en-US" sz="1750" dirty="0"/>
          </a:p>
        </p:txBody>
      </p:sp>
      <p:sp>
        <p:nvSpPr>
          <p:cNvPr id="18" name="Text 13"/>
          <p:cNvSpPr/>
          <p:nvPr/>
        </p:nvSpPr>
        <p:spPr>
          <a:xfrm>
            <a:off x="9640133" y="4501277"/>
            <a:ext cx="4196358"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Reporting:</a:t>
            </a:r>
            <a:r>
              <a:rPr lang="en-US" sz="1750" dirty="0">
                <a:solidFill>
                  <a:srgbClr val="15213F"/>
                </a:solidFill>
                <a:latin typeface="Roboto" pitchFamily="34" charset="0"/>
                <a:ea typeface="Roboto" pitchFamily="34" charset="-122"/>
                <a:cs typeface="Roboto" pitchFamily="34" charset="-120"/>
              </a:rPr>
              <a:t> Generation of PDF reports for stakeholders.</a:t>
            </a:r>
            <a:endParaRPr lang="en-US" sz="1750" dirty="0"/>
          </a:p>
        </p:txBody>
      </p:sp>
      <p:sp>
        <p:nvSpPr>
          <p:cNvPr id="19" name="Text 14"/>
          <p:cNvSpPr/>
          <p:nvPr/>
        </p:nvSpPr>
        <p:spPr>
          <a:xfrm>
            <a:off x="9640133" y="5306378"/>
            <a:ext cx="4196358"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Real-time Analysis:</a:t>
            </a:r>
            <a:r>
              <a:rPr lang="en-US" sz="1750" dirty="0">
                <a:solidFill>
                  <a:srgbClr val="15213F"/>
                </a:solidFill>
                <a:latin typeface="Roboto" pitchFamily="34" charset="0"/>
                <a:ea typeface="Roboto" pitchFamily="34" charset="-122"/>
                <a:cs typeface="Roboto" pitchFamily="34" charset="-120"/>
              </a:rPr>
              <a:t> Streaming video analysis for live feedback.</a:t>
            </a:r>
            <a:endParaRPr lang="en-US" sz="1750" dirty="0"/>
          </a:p>
        </p:txBody>
      </p:sp>
      <p:sp>
        <p:nvSpPr>
          <p:cNvPr id="20" name="Text 15"/>
          <p:cNvSpPr/>
          <p:nvPr/>
        </p:nvSpPr>
        <p:spPr>
          <a:xfrm>
            <a:off x="9640133" y="6111478"/>
            <a:ext cx="4196358"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Accessibility:</a:t>
            </a:r>
            <a:r>
              <a:rPr lang="en-US" sz="1750" dirty="0">
                <a:solidFill>
                  <a:srgbClr val="15213F"/>
                </a:solidFill>
                <a:latin typeface="Roboto" pitchFamily="34" charset="0"/>
                <a:ea typeface="Roboto" pitchFamily="34" charset="-122"/>
                <a:cs typeface="Roboto" pitchFamily="34" charset="-120"/>
              </a:rPr>
              <a:t> WCAG 2.1 Level AA compliance and mobile optimization.</a:t>
            </a:r>
            <a:endParaRPr lang="en-US" sz="1750" dirty="0"/>
          </a:p>
        </p:txBody>
      </p:sp>
      <p:pic>
        <p:nvPicPr>
          <p:cNvPr id="22" name="Picture 21" descr="A white background with black and white clouds&#10;&#10;AI-generated content may be incorrect.">
            <a:extLst>
              <a:ext uri="{FF2B5EF4-FFF2-40B4-BE49-F238E27FC236}">
                <a16:creationId xmlns:a16="http://schemas.microsoft.com/office/drawing/2014/main" id="{04DF6E76-E2FD-B929-D07A-7D018DAF06C1}"/>
              </a:ext>
            </a:extLst>
          </p:cNvPr>
          <p:cNvPicPr>
            <a:picLocks noChangeAspect="1"/>
          </p:cNvPicPr>
          <p:nvPr/>
        </p:nvPicPr>
        <p:blipFill>
          <a:blip r:embed="rId4"/>
          <a:stretch>
            <a:fillRect/>
          </a:stretch>
        </p:blipFill>
        <p:spPr>
          <a:xfrm>
            <a:off x="10490200" y="7442200"/>
            <a:ext cx="4140200" cy="787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973</Words>
  <Application>Microsoft Macintosh PowerPoint</Application>
  <PresentationFormat>Custom</PresentationFormat>
  <Paragraphs>59</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Roboto Slab Light</vt:lpstr>
      <vt:lpstr>Roboto Slab</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Microsoft Office User</cp:lastModifiedBy>
  <cp:revision>2</cp:revision>
  <dcterms:created xsi:type="dcterms:W3CDTF">2025-12-10T14:11:05Z</dcterms:created>
  <dcterms:modified xsi:type="dcterms:W3CDTF">2025-12-10T14:12:32Z</dcterms:modified>
</cp:coreProperties>
</file>